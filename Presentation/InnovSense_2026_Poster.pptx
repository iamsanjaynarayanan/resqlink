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3" d="100"/>
          <a:sy n="33" d="100"/>
        </p:scale>
        <p:origin x="1622"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13-03-2026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13-03-2026</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jpeg"/><Relationship Id="rId18" Type="http://schemas.openxmlformats.org/officeDocument/2006/relationships/image" Target="../media/image12.png"/><Relationship Id="rId3" Type="http://schemas.openxmlformats.org/officeDocument/2006/relationships/hyperlink" Target="mailto:23ec084@kpriet.ac.in" TargetMode="External"/><Relationship Id="rId7" Type="http://schemas.openxmlformats.org/officeDocument/2006/relationships/hyperlink" Target="mailto:23cs152@kpriet.ac.in" TargetMode="External"/><Relationship Id="rId12" Type="http://schemas.openxmlformats.org/officeDocument/2006/relationships/image" Target="../media/image6.png"/><Relationship Id="rId17" Type="http://schemas.openxmlformats.org/officeDocument/2006/relationships/image" Target="../media/image11.jpeg"/><Relationship Id="rId2" Type="http://schemas.openxmlformats.org/officeDocument/2006/relationships/image" Target="../media/image1.png"/><Relationship Id="rId16" Type="http://schemas.openxmlformats.org/officeDocument/2006/relationships/image" Target="../media/image10.jpeg"/><Relationship Id="rId1" Type="http://schemas.openxmlformats.org/officeDocument/2006/relationships/slideLayout" Target="../slideLayouts/slideLayout6.xml"/><Relationship Id="rId6" Type="http://schemas.openxmlformats.org/officeDocument/2006/relationships/hyperlink" Target="mailto:23ec091@kpriet.ac.in" TargetMode="External"/><Relationship Id="rId11" Type="http://schemas.openxmlformats.org/officeDocument/2006/relationships/image" Target="../media/image5.png"/><Relationship Id="rId5" Type="http://schemas.openxmlformats.org/officeDocument/2006/relationships/hyperlink" Target="mailto:23ec105@kpriet.ac.in" TargetMode="External"/><Relationship Id="rId15" Type="http://schemas.openxmlformats.org/officeDocument/2006/relationships/image" Target="../media/image9.jpeg"/><Relationship Id="rId10" Type="http://schemas.openxmlformats.org/officeDocument/2006/relationships/image" Target="../media/image4.jpeg"/><Relationship Id="rId4" Type="http://schemas.openxmlformats.org/officeDocument/2006/relationships/hyperlink" Target="mailto:23ec101@kpriet.ac.in" TargetMode="External"/><Relationship Id="rId9" Type="http://schemas.openxmlformats.org/officeDocument/2006/relationships/image" Target="../media/image3.jpg"/><Relationship Id="rId1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IN" sz="4400" dirty="0"/>
              <a:t>Intelligent Vehicular Emergency Communication System</a:t>
            </a:r>
          </a:p>
        </p:txBody>
      </p:sp>
      <p:sp>
        <p:nvSpPr>
          <p:cNvPr id="7" name="Text Placeholder 22"/>
          <p:cNvSpPr txBox="1">
            <a:spLocks/>
          </p:cNvSpPr>
          <p:nvPr/>
        </p:nvSpPr>
        <p:spPr>
          <a:xfrm>
            <a:off x="2633472" y="1499616"/>
            <a:ext cx="18390340" cy="692658"/>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Prawin V S| Dr. </a:t>
            </a:r>
            <a:r>
              <a:rPr lang="en-US" sz="4400" dirty="0" err="1"/>
              <a:t>Himangshu</a:t>
            </a:r>
            <a:r>
              <a:rPr lang="en-US" sz="4400" dirty="0"/>
              <a:t> Deka | Electronics and Communication Engineering</a:t>
            </a:r>
          </a:p>
        </p:txBody>
      </p:sp>
      <mc:AlternateContent xmlns:mc="http://schemas.openxmlformats.org/markup-compatibility/2006">
        <mc:Choice xmlns:a14="http://schemas.microsoft.com/office/drawing/2010/main" Requires="a14">
          <p:sp>
            <p:nvSpPr>
              <p:cNvPr id="10" name="Content Placeholder 10"/>
              <p:cNvSpPr txBox="1">
                <a:spLocks/>
              </p:cNvSpPr>
              <p:nvPr/>
            </p:nvSpPr>
            <p:spPr>
              <a:xfrm>
                <a:off x="359812" y="10677947"/>
                <a:ext cx="10350000" cy="1924381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The proposed </a:t>
                </a:r>
                <a:r>
                  <a:rPr lang="en-US" sz="2400" b="1" dirty="0" err="1"/>
                  <a:t>ResQLink</a:t>
                </a:r>
                <a:r>
                  <a:rPr lang="en-US" sz="2400" b="1" dirty="0"/>
                  <a:t> system</a:t>
                </a:r>
                <a:r>
                  <a:rPr lang="en-US" sz="2400" dirty="0"/>
                  <a:t> consists of an in-vehicle hardware module and a backend communication platform. The hardware module integrates an </a:t>
                </a:r>
                <a:r>
                  <a:rPr lang="en-US" sz="2400" b="1" dirty="0"/>
                  <a:t>ESP32 microcontroller, MPU6050 accelerometer sensor, NEO-6M GPS module, and SIM900 GSM module</a:t>
                </a:r>
                <a:r>
                  <a:rPr lang="en-US" sz="2400" dirty="0"/>
                  <a:t> to monitor vehicle motion and detect potential accidents. When abnormal motion is detected, the device captures the vehicle's location and transmits the information to the backend server, which automatically initiates emergency alerts.</a:t>
                </a:r>
              </a:p>
              <a:p>
                <a:r>
                  <a:rPr lang="en-US" sz="2400" b="1" dirty="0"/>
                  <a:t>Accident Detection Algorithm</a:t>
                </a:r>
              </a:p>
              <a:p>
                <a:r>
                  <a:rPr lang="en-US" sz="2400" dirty="0"/>
                  <a:t>Accident detection is performed using </a:t>
                </a:r>
                <a:r>
                  <a:rPr lang="en-US" sz="2400" b="1" dirty="0"/>
                  <a:t>multi-axis acceleration analysis</a:t>
                </a:r>
                <a:r>
                  <a:rPr lang="en-US" sz="2400" dirty="0"/>
                  <a:t> obtained from the MPU6050 sensor. The resultant acceleration magnitude is calculated using the Euclidean norm:</a:t>
                </a:r>
              </a:p>
              <a:p>
                <a:pPr algn="ct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ea typeface="Cambria Math" panose="02040503050406030204" pitchFamily="18" charset="0"/>
                        </a:rPr>
                        <m:t>𝐴</m:t>
                      </m:r>
                      <m:r>
                        <a:rPr lang="en-IN" sz="2400" i="1">
                          <a:latin typeface="Cambria Math" panose="02040503050406030204" pitchFamily="18" charset="0"/>
                          <a:ea typeface="Cambria Math" panose="02040503050406030204" pitchFamily="18" charset="0"/>
                        </a:rPr>
                        <m:t>=</m:t>
                      </m:r>
                      <m:rad>
                        <m:radPr>
                          <m:degHide m:val="on"/>
                          <m:ctrlPr>
                            <a:rPr lang="en-IN" sz="2400" i="1">
                              <a:latin typeface="Cambria Math" panose="02040503050406030204" pitchFamily="18" charset="0"/>
                              <a:ea typeface="Cambria Math" panose="02040503050406030204" pitchFamily="18" charset="0"/>
                            </a:rPr>
                          </m:ctrlPr>
                        </m:radPr>
                        <m:deg/>
                        <m:e>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𝑥</m:t>
                              </m:r>
                            </m:sub>
                            <m:sup>
                              <m:r>
                                <a:rPr lang="en-IN" sz="2400" i="1">
                                  <a:latin typeface="Cambria Math" panose="02040503050406030204" pitchFamily="18" charset="0"/>
                                  <a:ea typeface="Cambria Math" panose="02040503050406030204" pitchFamily="18" charset="0"/>
                                </a:rPr>
                                <m:t>2</m:t>
                              </m:r>
                            </m:sup>
                          </m:sSubSup>
                          <m:r>
                            <a:rPr lang="en-IN" sz="2400" i="1">
                              <a:latin typeface="Cambria Math" panose="02040503050406030204" pitchFamily="18" charset="0"/>
                              <a:ea typeface="Cambria Math" panose="02040503050406030204" pitchFamily="18" charset="0"/>
                            </a:rPr>
                            <m:t>+</m:t>
                          </m:r>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𝑦</m:t>
                              </m:r>
                            </m:sub>
                            <m:sup>
                              <m:r>
                                <a:rPr lang="en-IN" sz="2400" i="1">
                                  <a:latin typeface="Cambria Math" panose="02040503050406030204" pitchFamily="18" charset="0"/>
                                  <a:ea typeface="Cambria Math" panose="02040503050406030204" pitchFamily="18" charset="0"/>
                                </a:rPr>
                                <m:t>2</m:t>
                              </m:r>
                            </m:sup>
                          </m:sSubSup>
                          <m:r>
                            <a:rPr lang="en-IN" sz="2400" i="1">
                              <a:latin typeface="Cambria Math" panose="02040503050406030204" pitchFamily="18" charset="0"/>
                              <a:ea typeface="Cambria Math" panose="02040503050406030204" pitchFamily="18" charset="0"/>
                            </a:rPr>
                            <m:t>+</m:t>
                          </m:r>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𝑧</m:t>
                              </m:r>
                            </m:sub>
                            <m:sup>
                              <m:r>
                                <a:rPr lang="en-IN" sz="2400" i="1">
                                  <a:latin typeface="Cambria Math" panose="02040503050406030204" pitchFamily="18" charset="0"/>
                                  <a:ea typeface="Cambria Math" panose="02040503050406030204" pitchFamily="18" charset="0"/>
                                </a:rPr>
                                <m:t>2</m:t>
                              </m:r>
                            </m:sup>
                          </m:sSubSup>
                        </m:e>
                      </m:rad>
                    </m:oMath>
                  </m:oMathPara>
                </a14:m>
                <a:endParaRPr lang="en-IN" sz="240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ea typeface="Cambria Math" panose="02040503050406030204" pitchFamily="18" charset="0"/>
                        </a:rPr>
                        <m:t>𝑃𝑖𝑡𝑐h</m:t>
                      </m:r>
                      <m:r>
                        <a:rPr lang="en-IN" sz="2400" i="1">
                          <a:latin typeface="Cambria Math" panose="02040503050406030204" pitchFamily="18" charset="0"/>
                          <a:ea typeface="Cambria Math" panose="02040503050406030204" pitchFamily="18" charset="0"/>
                        </a:rPr>
                        <m:t>=</m:t>
                      </m:r>
                      <m:sSup>
                        <m:sSupPr>
                          <m:ctrlPr>
                            <a:rPr lang="en-IN" sz="2400" i="1">
                              <a:latin typeface="Cambria Math" panose="02040503050406030204" pitchFamily="18" charset="0"/>
                              <a:ea typeface="Cambria Math" panose="02040503050406030204" pitchFamily="18" charset="0"/>
                            </a:rPr>
                          </m:ctrlPr>
                        </m:sSupPr>
                        <m:e>
                          <m:r>
                            <m:rPr>
                              <m:sty m:val="p"/>
                            </m:rPr>
                            <a:rPr lang="en-IN" sz="2400">
                              <a:latin typeface="Cambria Math" panose="02040503050406030204" pitchFamily="18" charset="0"/>
                              <a:ea typeface="Cambria Math" panose="02040503050406030204" pitchFamily="18" charset="0"/>
                            </a:rPr>
                            <m:t>tan</m:t>
                          </m:r>
                          <m:r>
                            <a:rPr lang="en-IN" sz="2400" i="1">
                              <a:latin typeface="Cambria Math" panose="02040503050406030204" pitchFamily="18" charset="0"/>
                              <a:ea typeface="Cambria Math" panose="02040503050406030204" pitchFamily="18" charset="0"/>
                            </a:rPr>
                            <m:t>⁡</m:t>
                          </m:r>
                        </m:e>
                        <m:sup>
                          <m:r>
                            <a:rPr lang="en-IN" sz="2400" i="1">
                              <a:latin typeface="Cambria Math" panose="02040503050406030204" pitchFamily="18" charset="0"/>
                              <a:ea typeface="Cambria Math" panose="02040503050406030204" pitchFamily="18" charset="0"/>
                            </a:rPr>
                            <m:t>−1</m:t>
                          </m:r>
                        </m:sup>
                      </m:sSup>
                      <m:d>
                        <m:dPr>
                          <m:ctrlPr>
                            <a:rPr lang="en-IN" sz="2400" i="1">
                              <a:latin typeface="Cambria Math" panose="02040503050406030204" pitchFamily="18" charset="0"/>
                              <a:ea typeface="Cambria Math" panose="02040503050406030204" pitchFamily="18" charset="0"/>
                            </a:rPr>
                          </m:ctrlPr>
                        </m:dPr>
                        <m:e>
                          <m:f>
                            <m:fPr>
                              <m:ctrlPr>
                                <a:rPr lang="en-IN" sz="2400" i="1">
                                  <a:latin typeface="Cambria Math" panose="02040503050406030204" pitchFamily="18" charset="0"/>
                                  <a:ea typeface="Cambria Math" panose="02040503050406030204" pitchFamily="18" charset="0"/>
                                </a:rPr>
                              </m:ctrlPr>
                            </m:fPr>
                            <m:num>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𝑥</m:t>
                                  </m:r>
                                </m:sub>
                              </m:sSub>
                            </m:num>
                            <m:den>
                              <m:rad>
                                <m:radPr>
                                  <m:degHide m:val="on"/>
                                  <m:ctrlPr>
                                    <a:rPr lang="en-IN" sz="2400" i="1">
                                      <a:latin typeface="Cambria Math" panose="02040503050406030204" pitchFamily="18" charset="0"/>
                                      <a:ea typeface="Cambria Math" panose="02040503050406030204" pitchFamily="18" charset="0"/>
                                    </a:rPr>
                                  </m:ctrlPr>
                                </m:radPr>
                                <m:deg/>
                                <m:e>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𝑦</m:t>
                                      </m:r>
                                    </m:sub>
                                    <m:sup>
                                      <m:r>
                                        <a:rPr lang="en-IN" sz="2400" i="1">
                                          <a:latin typeface="Cambria Math" panose="02040503050406030204" pitchFamily="18" charset="0"/>
                                          <a:ea typeface="Cambria Math" panose="02040503050406030204" pitchFamily="18" charset="0"/>
                                        </a:rPr>
                                        <m:t>2</m:t>
                                      </m:r>
                                    </m:sup>
                                  </m:sSubSup>
                                  <m:r>
                                    <a:rPr lang="en-IN" sz="2400" i="1">
                                      <a:latin typeface="Cambria Math" panose="02040503050406030204" pitchFamily="18" charset="0"/>
                                      <a:ea typeface="Cambria Math" panose="02040503050406030204" pitchFamily="18" charset="0"/>
                                    </a:rPr>
                                    <m:t>+</m:t>
                                  </m:r>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𝑧</m:t>
                                      </m:r>
                                    </m:sub>
                                    <m:sup>
                                      <m:r>
                                        <a:rPr lang="en-IN" sz="2400" i="1">
                                          <a:latin typeface="Cambria Math" panose="02040503050406030204" pitchFamily="18" charset="0"/>
                                          <a:ea typeface="Cambria Math" panose="02040503050406030204" pitchFamily="18" charset="0"/>
                                        </a:rPr>
                                        <m:t>2</m:t>
                                      </m:r>
                                    </m:sup>
                                  </m:sSubSup>
                                </m:e>
                              </m:rad>
                            </m:den>
                          </m:f>
                        </m:e>
                      </m:d>
                      <m:r>
                        <a:rPr lang="en-IN" sz="2400" i="1">
                          <a:latin typeface="Cambria Math" panose="02040503050406030204" pitchFamily="18" charset="0"/>
                          <a:ea typeface="Cambria Math" panose="02040503050406030204" pitchFamily="18" charset="0"/>
                        </a:rPr>
                        <m:t>×</m:t>
                      </m:r>
                      <m:f>
                        <m:fPr>
                          <m:ctrlPr>
                            <a:rPr lang="en-IN" sz="2400" i="1">
                              <a:latin typeface="Cambria Math" panose="02040503050406030204" pitchFamily="18" charset="0"/>
                              <a:ea typeface="Cambria Math" panose="02040503050406030204" pitchFamily="18" charset="0"/>
                            </a:rPr>
                          </m:ctrlPr>
                        </m:fPr>
                        <m:num>
                          <m:r>
                            <a:rPr lang="en-IN" sz="2400" i="1">
                              <a:latin typeface="Cambria Math" panose="02040503050406030204" pitchFamily="18" charset="0"/>
                              <a:ea typeface="Cambria Math" panose="02040503050406030204" pitchFamily="18" charset="0"/>
                            </a:rPr>
                            <m:t>180</m:t>
                          </m:r>
                        </m:num>
                        <m:den>
                          <m:r>
                            <a:rPr lang="en-IN" sz="2400" i="1">
                              <a:latin typeface="Cambria Math" panose="02040503050406030204" pitchFamily="18" charset="0"/>
                              <a:ea typeface="Cambria Math" panose="02040503050406030204" pitchFamily="18" charset="0"/>
                            </a:rPr>
                            <m:t>𝜋</m:t>
                          </m:r>
                        </m:den>
                      </m:f>
                    </m:oMath>
                    <m:oMath xmlns:m="http://schemas.openxmlformats.org/officeDocument/2006/math">
                      <m:r>
                        <a:rPr lang="en-IN" sz="2400" i="1">
                          <a:latin typeface="Cambria Math" panose="02040503050406030204" pitchFamily="18" charset="0"/>
                          <a:ea typeface="Cambria Math" panose="02040503050406030204" pitchFamily="18" charset="0"/>
                        </a:rPr>
                        <m:t>𝑅𝑜𝑙𝑙</m:t>
                      </m:r>
                      <m:r>
                        <a:rPr lang="en-IN" sz="2400" i="1">
                          <a:latin typeface="Cambria Math" panose="02040503050406030204" pitchFamily="18" charset="0"/>
                          <a:ea typeface="Cambria Math" panose="02040503050406030204" pitchFamily="18" charset="0"/>
                        </a:rPr>
                        <m:t>=</m:t>
                      </m:r>
                      <m:sSup>
                        <m:sSupPr>
                          <m:ctrlPr>
                            <a:rPr lang="en-IN" sz="2400" i="1">
                              <a:latin typeface="Cambria Math" panose="02040503050406030204" pitchFamily="18" charset="0"/>
                              <a:ea typeface="Cambria Math" panose="02040503050406030204" pitchFamily="18" charset="0"/>
                            </a:rPr>
                          </m:ctrlPr>
                        </m:sSupPr>
                        <m:e>
                          <m:r>
                            <m:rPr>
                              <m:sty m:val="p"/>
                            </m:rPr>
                            <a:rPr lang="en-IN" sz="2400">
                              <a:latin typeface="Cambria Math" panose="02040503050406030204" pitchFamily="18" charset="0"/>
                              <a:ea typeface="Cambria Math" panose="02040503050406030204" pitchFamily="18" charset="0"/>
                            </a:rPr>
                            <m:t>tan</m:t>
                          </m:r>
                          <m:r>
                            <a:rPr lang="en-IN" sz="2400" i="1">
                              <a:latin typeface="Cambria Math" panose="02040503050406030204" pitchFamily="18" charset="0"/>
                              <a:ea typeface="Cambria Math" panose="02040503050406030204" pitchFamily="18" charset="0"/>
                            </a:rPr>
                            <m:t>⁡</m:t>
                          </m:r>
                        </m:e>
                        <m:sup>
                          <m:r>
                            <a:rPr lang="en-IN" sz="2400" i="1">
                              <a:latin typeface="Cambria Math" panose="02040503050406030204" pitchFamily="18" charset="0"/>
                              <a:ea typeface="Cambria Math" panose="02040503050406030204" pitchFamily="18" charset="0"/>
                            </a:rPr>
                            <m:t>−1</m:t>
                          </m:r>
                        </m:sup>
                      </m:sSup>
                      <m:d>
                        <m:dPr>
                          <m:ctrlPr>
                            <a:rPr lang="en-IN" sz="2400" i="1">
                              <a:latin typeface="Cambria Math" panose="02040503050406030204" pitchFamily="18" charset="0"/>
                              <a:ea typeface="Cambria Math" panose="02040503050406030204" pitchFamily="18" charset="0"/>
                            </a:rPr>
                          </m:ctrlPr>
                        </m:dPr>
                        <m:e>
                          <m:f>
                            <m:fPr>
                              <m:ctrlPr>
                                <a:rPr lang="en-IN" sz="2400" i="1">
                                  <a:latin typeface="Cambria Math" panose="02040503050406030204" pitchFamily="18" charset="0"/>
                                  <a:ea typeface="Cambria Math" panose="02040503050406030204" pitchFamily="18" charset="0"/>
                                </a:rPr>
                              </m:ctrlPr>
                            </m:fPr>
                            <m:num>
                              <m:sSub>
                                <m:sSubPr>
                                  <m:ctrlPr>
                                    <a:rPr lang="en-IN" sz="2400" i="1">
                                      <a:latin typeface="Cambria Math" panose="02040503050406030204" pitchFamily="18" charset="0"/>
                                      <a:ea typeface="Cambria Math" panose="02040503050406030204" pitchFamily="18" charset="0"/>
                                    </a:rPr>
                                  </m:ctrlPr>
                                </m:sSub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𝑦</m:t>
                                  </m:r>
                                </m:sub>
                              </m:sSub>
                            </m:num>
                            <m:den>
                              <m:rad>
                                <m:radPr>
                                  <m:degHide m:val="on"/>
                                  <m:ctrlPr>
                                    <a:rPr lang="en-IN" sz="2400" i="1">
                                      <a:latin typeface="Cambria Math" panose="02040503050406030204" pitchFamily="18" charset="0"/>
                                      <a:ea typeface="Cambria Math" panose="02040503050406030204" pitchFamily="18" charset="0"/>
                                    </a:rPr>
                                  </m:ctrlPr>
                                </m:radPr>
                                <m:deg/>
                                <m:e>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𝑥</m:t>
                                      </m:r>
                                    </m:sub>
                                    <m:sup>
                                      <m:r>
                                        <a:rPr lang="en-IN" sz="2400" i="1">
                                          <a:latin typeface="Cambria Math" panose="02040503050406030204" pitchFamily="18" charset="0"/>
                                          <a:ea typeface="Cambria Math" panose="02040503050406030204" pitchFamily="18" charset="0"/>
                                        </a:rPr>
                                        <m:t>2</m:t>
                                      </m:r>
                                    </m:sup>
                                  </m:sSubSup>
                                  <m:r>
                                    <a:rPr lang="en-IN" sz="2400" i="1">
                                      <a:latin typeface="Cambria Math" panose="02040503050406030204" pitchFamily="18" charset="0"/>
                                      <a:ea typeface="Cambria Math" panose="02040503050406030204" pitchFamily="18" charset="0"/>
                                    </a:rPr>
                                    <m:t>+</m:t>
                                  </m:r>
                                  <m:sSubSup>
                                    <m:sSubSupPr>
                                      <m:ctrlPr>
                                        <a:rPr lang="en-IN" sz="2400" i="1">
                                          <a:latin typeface="Cambria Math" panose="02040503050406030204" pitchFamily="18" charset="0"/>
                                          <a:ea typeface="Cambria Math" panose="02040503050406030204" pitchFamily="18" charset="0"/>
                                        </a:rPr>
                                      </m:ctrlPr>
                                    </m:sSubSupPr>
                                    <m:e>
                                      <m:r>
                                        <a:rPr lang="en-IN" sz="2400" i="1">
                                          <a:latin typeface="Cambria Math" panose="02040503050406030204" pitchFamily="18" charset="0"/>
                                          <a:ea typeface="Cambria Math" panose="02040503050406030204" pitchFamily="18" charset="0"/>
                                        </a:rPr>
                                        <m:t>𝑎</m:t>
                                      </m:r>
                                    </m:e>
                                    <m:sub>
                                      <m:r>
                                        <a:rPr lang="en-IN" sz="2400" i="1">
                                          <a:latin typeface="Cambria Math" panose="02040503050406030204" pitchFamily="18" charset="0"/>
                                          <a:ea typeface="Cambria Math" panose="02040503050406030204" pitchFamily="18" charset="0"/>
                                        </a:rPr>
                                        <m:t>𝑧</m:t>
                                      </m:r>
                                    </m:sub>
                                    <m:sup>
                                      <m:r>
                                        <a:rPr lang="en-IN" sz="2400" i="1">
                                          <a:latin typeface="Cambria Math" panose="02040503050406030204" pitchFamily="18" charset="0"/>
                                          <a:ea typeface="Cambria Math" panose="02040503050406030204" pitchFamily="18" charset="0"/>
                                        </a:rPr>
                                        <m:t>2</m:t>
                                      </m:r>
                                    </m:sup>
                                  </m:sSubSup>
                                </m:e>
                              </m:rad>
                            </m:den>
                          </m:f>
                        </m:e>
                      </m:d>
                      <m:r>
                        <a:rPr lang="en-IN" sz="2400" i="1">
                          <a:latin typeface="Cambria Math" panose="02040503050406030204" pitchFamily="18" charset="0"/>
                          <a:ea typeface="Cambria Math" panose="02040503050406030204" pitchFamily="18" charset="0"/>
                        </a:rPr>
                        <m:t>×</m:t>
                      </m:r>
                      <m:f>
                        <m:fPr>
                          <m:ctrlPr>
                            <a:rPr lang="en-IN" sz="2400" i="1">
                              <a:latin typeface="Cambria Math" panose="02040503050406030204" pitchFamily="18" charset="0"/>
                              <a:ea typeface="Cambria Math" panose="02040503050406030204" pitchFamily="18" charset="0"/>
                            </a:rPr>
                          </m:ctrlPr>
                        </m:fPr>
                        <m:num>
                          <m:r>
                            <a:rPr lang="en-IN" sz="2400" i="1">
                              <a:latin typeface="Cambria Math" panose="02040503050406030204" pitchFamily="18" charset="0"/>
                              <a:ea typeface="Cambria Math" panose="02040503050406030204" pitchFamily="18" charset="0"/>
                            </a:rPr>
                            <m:t>180</m:t>
                          </m:r>
                        </m:num>
                        <m:den>
                          <m:r>
                            <a:rPr lang="en-IN" sz="2400" i="1">
                              <a:latin typeface="Cambria Math" panose="02040503050406030204" pitchFamily="18" charset="0"/>
                              <a:ea typeface="Cambria Math" panose="02040503050406030204" pitchFamily="18" charset="0"/>
                            </a:rPr>
                            <m:t>𝜋</m:t>
                          </m:r>
                        </m:den>
                      </m:f>
                    </m:oMath>
                  </m:oMathPara>
                </a14:m>
                <a:endParaRPr lang="en-US" sz="2400" dirty="0"/>
              </a:p>
              <a:p>
                <a:r>
                  <a:rPr lang="en-US" sz="2400" dirty="0"/>
                  <a:t>If the calculated acceleration exceeds a predefined </a:t>
                </a:r>
                <a:r>
                  <a:rPr lang="en-US" sz="2400" b="1" dirty="0"/>
                  <a:t>impact threshold</a:t>
                </a:r>
                <a:r>
                  <a:rPr lang="en-US" sz="2400" dirty="0"/>
                  <a:t>, the system identifies a potential collision event. Additional orientation analysis using pitch and roll helps reduce false triggers caused by sudden braking or road disturbances.</a:t>
                </a:r>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pPr/>
                <a:endParaRPr lang="en-IN" sz="2400" b="0" i="1" dirty="0">
                  <a:ea typeface="Cambria Math" panose="02040503050406030204" pitchFamily="18" charset="0"/>
                </a:endParaRPr>
              </a:p>
              <a:p>
                <a:endParaRPr lang="en-US" sz="2400" dirty="0"/>
              </a:p>
              <a:p>
                <a:endParaRPr lang="en-US" sz="2400" dirty="0"/>
              </a:p>
              <a:p>
                <a:endParaRPr lang="en-IN" sz="2400" dirty="0"/>
              </a:p>
              <a:p>
                <a:endParaRPr lang="en-IN" sz="2400" dirty="0"/>
              </a:p>
              <a:p>
                <a:endParaRPr lang="en-IN" sz="2400" dirty="0"/>
              </a:p>
              <a:p>
                <a:endParaRPr lang="en-IN" sz="2400" dirty="0"/>
              </a:p>
              <a:p>
                <a:endParaRPr lang="en-IN" sz="2400" dirty="0"/>
              </a:p>
              <a:p>
                <a:endParaRPr lang="en-IN" sz="2400" dirty="0"/>
              </a:p>
            </p:txBody>
          </p:sp>
        </mc:Choice>
        <mc:Fallback>
          <p:sp>
            <p:nvSpPr>
              <p:cNvPr id="10" name="Content Placeholder 10"/>
              <p:cNvSpPr txBox="1">
                <a:spLocks noRot="1" noChangeAspect="1" noMove="1" noResize="1" noEditPoints="1" noAdjustHandles="1" noChangeArrowheads="1" noChangeShapeType="1" noTextEdit="1"/>
              </p:cNvSpPr>
              <p:nvPr/>
            </p:nvSpPr>
            <p:spPr>
              <a:xfrm>
                <a:off x="359812" y="10677947"/>
                <a:ext cx="10350000" cy="19243813"/>
              </a:xfrm>
              <a:prstGeom prst="rect">
                <a:avLst/>
              </a:prstGeom>
              <a:blipFill>
                <a:blip r:embed="rId2"/>
                <a:stretch>
                  <a:fillRect l="-823" t="-412" r="-1411"/>
                </a:stretch>
              </a:blipFill>
              <a:ln w="15875">
                <a:solidFill>
                  <a:schemeClr val="accent1">
                    <a:shade val="50000"/>
                  </a:schemeClr>
                </a:solidFill>
              </a:ln>
            </p:spPr>
            <p:txBody>
              <a:bodyPr/>
              <a:lstStyle/>
              <a:p>
                <a:r>
                  <a:rPr lang="en-IN">
                    <a:noFill/>
                  </a:rPr>
                  <a:t> </a:t>
                </a:r>
              </a:p>
            </p:txBody>
          </p:sp>
        </mc:Fallback>
      </mc:AlternateContent>
      <p:sp>
        <p:nvSpPr>
          <p:cNvPr id="11" name="Text Placeholder 68"/>
          <p:cNvSpPr txBox="1">
            <a:spLocks/>
          </p:cNvSpPr>
          <p:nvPr/>
        </p:nvSpPr>
        <p:spPr>
          <a:xfrm>
            <a:off x="10709812" y="3095034"/>
            <a:ext cx="10350000" cy="1315572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endParaRPr lang="en-IN"/>
          </a:p>
          <a:p>
            <a:endParaRPr lang="en-IN"/>
          </a:p>
          <a:p>
            <a:endParaRPr lang="en-IN"/>
          </a:p>
          <a:p>
            <a:endParaRPr lang="en-IN"/>
          </a:p>
          <a:p>
            <a:endParaRPr lang="en-IN"/>
          </a:p>
          <a:p>
            <a:endParaRPr lang="en-IN"/>
          </a:p>
          <a:p>
            <a:endParaRPr lang="en-US"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AU" sz="1800" i="1"/>
          </a:p>
          <a:p>
            <a:endParaRPr lang="en-IN" dirty="0"/>
          </a:p>
        </p:txBody>
      </p:sp>
      <p:sp>
        <p:nvSpPr>
          <p:cNvPr id="3" name="Rectangle 2"/>
          <p:cNvSpPr/>
          <p:nvPr/>
        </p:nvSpPr>
        <p:spPr>
          <a:xfrm>
            <a:off x="359812" y="5823179"/>
            <a:ext cx="4057265" cy="646331"/>
          </a:xfrm>
          <a:prstGeom prst="rect">
            <a:avLst/>
          </a:prstGeom>
        </p:spPr>
        <p:txBody>
          <a:bodyPr wrap="none">
            <a:spAutoFit/>
          </a:bodyPr>
          <a:lstStyle/>
          <a:p>
            <a:pPr algn="ctr"/>
            <a:r>
              <a:rPr lang="en-US" sz="3600" dirty="0"/>
              <a:t>SCOPE 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59812" y="9938079"/>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59812" y="6467898"/>
            <a:ext cx="10350000" cy="347018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The </a:t>
            </a:r>
            <a:r>
              <a:rPr lang="en-US" sz="2400" dirty="0" err="1"/>
              <a:t>ResQLink</a:t>
            </a:r>
            <a:r>
              <a:rPr lang="en-US" sz="2400" dirty="0"/>
              <a:t> system aims to improve road safety by bringing accident detection and emergency communication features to all vehicles through an affordable and scalable solution. The system automatically detects collisions using embedded sensors and instantly shares the </a:t>
            </a:r>
            <a:r>
              <a:rPr lang="en-US" sz="2400" b="1" dirty="0"/>
              <a:t>vehicle’s GPS location with emergency contacts</a:t>
            </a:r>
            <a:r>
              <a:rPr lang="en-US" sz="2400" dirty="0"/>
              <a:t>. By integrating </a:t>
            </a:r>
            <a:r>
              <a:rPr lang="en-US" sz="2400" b="1" dirty="0"/>
              <a:t>multilingual automated voice alerts and a hybrid communication architecture with GSM fallback</a:t>
            </a:r>
            <a:r>
              <a:rPr lang="en-US" sz="2400" dirty="0"/>
              <a:t>, the system ensures reliable emergency notification even during network instability. In addition to accident alerting, the system includes </a:t>
            </a:r>
            <a:r>
              <a:rPr lang="en-US" sz="2400" b="1" dirty="0"/>
              <a:t>a secure web dashboard where users can manage emergency contacts and view past accident records</a:t>
            </a:r>
            <a:r>
              <a:rPr lang="en-US" sz="2400" dirty="0"/>
              <a:t>. It also supports future enhancements such as </a:t>
            </a:r>
            <a:r>
              <a:rPr lang="en-US" sz="2400" b="1" dirty="0"/>
              <a:t>satellite-based emergency communication for remote areas</a:t>
            </a:r>
            <a:r>
              <a:rPr lang="en-US" sz="2400" dirty="0"/>
              <a:t>.</a:t>
            </a:r>
          </a:p>
        </p:txBody>
      </p:sp>
      <p:sp>
        <p:nvSpPr>
          <p:cNvPr id="21" name="Text Placeholder 68"/>
          <p:cNvSpPr txBox="1">
            <a:spLocks/>
          </p:cNvSpPr>
          <p:nvPr/>
        </p:nvSpPr>
        <p:spPr>
          <a:xfrm>
            <a:off x="359812" y="3092215"/>
            <a:ext cx="10350000" cy="273096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Road accidents cause over 1.19 million deaths globally each year, and timely emergency response during the “Golden Hour” is critical for saving lives. However, many existing accident alert systems rely on SMS notifications, which may fail as people do not check their SMS often. </a:t>
            </a:r>
            <a:r>
              <a:rPr lang="en-US" dirty="0" err="1"/>
              <a:t>ResQLink</a:t>
            </a:r>
            <a:r>
              <a:rPr lang="en-US" dirty="0"/>
              <a:t> proposes a hardware-based intelligent accident detection and emergency communication system that automatically detects collisions and alerts emergency contacts using multilingual voice calls, GPS location sharing, and GSM fallback communication to ensure reliable emergency response.</a:t>
            </a:r>
          </a:p>
        </p:txBody>
      </p:sp>
      <p:sp>
        <p:nvSpPr>
          <p:cNvPr id="22" name="Rectangle 21"/>
          <p:cNvSpPr/>
          <p:nvPr/>
        </p:nvSpPr>
        <p:spPr>
          <a:xfrm>
            <a:off x="323812" y="2481980"/>
            <a:ext cx="4858702" cy="646331"/>
          </a:xfrm>
          <a:prstGeom prst="rect">
            <a:avLst/>
          </a:prstGeom>
        </p:spPr>
        <p:txBody>
          <a:bodyPr wrap="none">
            <a:spAutoFit/>
          </a:bodyPr>
          <a:lstStyle/>
          <a:p>
            <a:pPr algn="ctr"/>
            <a:r>
              <a:rPr lang="en-US" sz="3600" dirty="0"/>
              <a:t>Motivation/ Introduction</a:t>
            </a:r>
          </a:p>
        </p:txBody>
      </p:sp>
      <p:sp>
        <p:nvSpPr>
          <p:cNvPr id="27" name="Text Placeholder 68"/>
          <p:cNvSpPr txBox="1">
            <a:spLocks/>
          </p:cNvSpPr>
          <p:nvPr/>
        </p:nvSpPr>
        <p:spPr>
          <a:xfrm>
            <a:off x="10673812" y="22110160"/>
            <a:ext cx="10350000" cy="4635659"/>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The proposed </a:t>
            </a:r>
            <a:r>
              <a:rPr lang="en-US" b="1" dirty="0" err="1"/>
              <a:t>ResQLink</a:t>
            </a:r>
            <a:r>
              <a:rPr lang="en-US" b="1" dirty="0"/>
              <a:t> system</a:t>
            </a:r>
            <a:r>
              <a:rPr lang="en-US" dirty="0"/>
              <a:t> presents an affordable and reliable accident detection and emergency communication solution designed for deployment across a wide range of vehicles. By integrating </a:t>
            </a:r>
            <a:r>
              <a:rPr lang="en-US" b="1" dirty="0"/>
              <a:t>real-time motion sensing, GPS-based location tracking, multilingual automated voice alerts, and GSM fallback communication</a:t>
            </a:r>
            <a:r>
              <a:rPr lang="en-US" dirty="0"/>
              <a:t>, the system ensures rapid and dependable emergency notification during accident scenarios. Experimental testing demonstrates that the system can accurately detect high-impact events and trigger emergency alerts within a few seconds.</a:t>
            </a:r>
          </a:p>
          <a:p>
            <a:r>
              <a:rPr lang="en-US" dirty="0"/>
              <a:t>Unlike conventional SMS-based systems, </a:t>
            </a:r>
            <a:r>
              <a:rPr lang="en-US" dirty="0" err="1"/>
              <a:t>ResQLink</a:t>
            </a:r>
            <a:r>
              <a:rPr lang="en-US" dirty="0"/>
              <a:t> improves emergency response through automated voice alerts and hybrid communication. Its low-cost, scalable design supports wide deployment, with future enhancements including satellite-based emergency alerts using lightweight Iridium modules for completely network-less areas.</a:t>
            </a:r>
          </a:p>
        </p:txBody>
      </p:sp>
      <p:sp>
        <p:nvSpPr>
          <p:cNvPr id="28" name="Rectangle 27"/>
          <p:cNvSpPr/>
          <p:nvPr/>
        </p:nvSpPr>
        <p:spPr>
          <a:xfrm>
            <a:off x="10741185" y="27832449"/>
            <a:ext cx="10362150" cy="2492990"/>
          </a:xfrm>
          <a:prstGeom prst="rect">
            <a:avLst/>
          </a:prstGeom>
        </p:spPr>
        <p:txBody>
          <a:bodyPr wrap="square">
            <a:spAutoFit/>
          </a:bodyPr>
          <a:lstStyle/>
          <a:p>
            <a:r>
              <a:rPr lang="en-US" sz="3600" dirty="0"/>
              <a:t>Acknowledgments/ References</a:t>
            </a:r>
          </a:p>
          <a:p>
            <a:r>
              <a:rPr lang="en-US" sz="2400" dirty="0"/>
              <a:t>We gratefully acknowledge the support of our project guide and the Department of ECE. KPRIET.</a:t>
            </a:r>
          </a:p>
          <a:p>
            <a:r>
              <a:rPr lang="en-US" sz="2400" dirty="0"/>
              <a:t>“An IoT-Based Automatic Vehicle Accident Detection and Visual Situation Reporting System ”, Wiley: Journal of Adv. Transportation. vol. 2024, May 2024.</a:t>
            </a:r>
            <a:endParaRPr lang="en-IN" sz="2400" dirty="0"/>
          </a:p>
          <a:p>
            <a:endParaRPr lang="en-US" sz="2400" dirty="0"/>
          </a:p>
        </p:txBody>
      </p:sp>
      <p:sp>
        <p:nvSpPr>
          <p:cNvPr id="29" name="Rectangle 28"/>
          <p:cNvSpPr/>
          <p:nvPr/>
        </p:nvSpPr>
        <p:spPr>
          <a:xfrm>
            <a:off x="10652735" y="21612634"/>
            <a:ext cx="4298614" cy="646331"/>
          </a:xfrm>
          <a:prstGeom prst="rect">
            <a:avLst/>
          </a:prstGeom>
        </p:spPr>
        <p:txBody>
          <a:bodyPr wrap="none">
            <a:spAutoFit/>
          </a:bodyPr>
          <a:lstStyle/>
          <a:p>
            <a:pPr algn="ctr"/>
            <a:r>
              <a:rPr lang="en-US" sz="3600" dirty="0"/>
              <a:t>Conclusion/ Summary</a:t>
            </a:r>
          </a:p>
        </p:txBody>
      </p:sp>
      <p:sp>
        <p:nvSpPr>
          <p:cNvPr id="30" name="Rectangle 29"/>
          <p:cNvSpPr/>
          <p:nvPr/>
        </p:nvSpPr>
        <p:spPr>
          <a:xfrm>
            <a:off x="10673812" y="26648149"/>
            <a:ext cx="10362150" cy="1384995"/>
          </a:xfrm>
          <a:prstGeom prst="rect">
            <a:avLst/>
          </a:prstGeom>
        </p:spPr>
        <p:txBody>
          <a:bodyPr wrap="square">
            <a:spAutoFit/>
          </a:bodyPr>
          <a:lstStyle/>
          <a:p>
            <a:r>
              <a:rPr lang="en-US" sz="3600" dirty="0"/>
              <a:t>Contact Details</a:t>
            </a:r>
          </a:p>
          <a:p>
            <a:r>
              <a:rPr lang="en-US" sz="2400" dirty="0">
                <a:hlinkClick r:id="rId3"/>
              </a:rPr>
              <a:t>23ec084@kpriet.ac.in</a:t>
            </a:r>
            <a:r>
              <a:rPr lang="en-US" sz="2400" dirty="0"/>
              <a:t>, </a:t>
            </a:r>
            <a:r>
              <a:rPr lang="en-US" sz="2400" dirty="0">
                <a:hlinkClick r:id="rId4"/>
              </a:rPr>
              <a:t>23ec101@kpriet.ac.in</a:t>
            </a:r>
            <a:r>
              <a:rPr lang="en-US" sz="2400" dirty="0"/>
              <a:t>, </a:t>
            </a:r>
            <a:r>
              <a:rPr lang="en-US" sz="2400" dirty="0">
                <a:hlinkClick r:id="rId5"/>
              </a:rPr>
              <a:t>23ec105@kpriet.ac.in</a:t>
            </a:r>
            <a:r>
              <a:rPr lang="en-US" sz="2400" dirty="0"/>
              <a:t>, </a:t>
            </a:r>
            <a:r>
              <a:rPr lang="en-US" sz="2400" dirty="0">
                <a:hlinkClick r:id="rId6"/>
              </a:rPr>
              <a:t>23ec091@kpriet.ac.in</a:t>
            </a:r>
            <a:r>
              <a:rPr lang="en-US" sz="2400" dirty="0"/>
              <a:t>, </a:t>
            </a:r>
            <a:r>
              <a:rPr lang="en-US" sz="2400" dirty="0">
                <a:hlinkClick r:id="rId7"/>
              </a:rPr>
              <a:t>23cs152@kpriet.ac.in</a:t>
            </a:r>
            <a:r>
              <a:rPr lang="en-US" sz="2400" dirty="0"/>
              <a:t>  </a:t>
            </a:r>
          </a:p>
        </p:txBody>
      </p:sp>
      <p:pic>
        <p:nvPicPr>
          <p:cNvPr id="8" name="Picture 7">
            <a:extLst>
              <a:ext uri="{FF2B5EF4-FFF2-40B4-BE49-F238E27FC236}">
                <a16:creationId xmlns:a16="http://schemas.microsoft.com/office/drawing/2014/main" id="{74ED279A-FD8B-4A4A-943F-688402F56E3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0866" y="265007"/>
            <a:ext cx="2277658" cy="2277658"/>
          </a:xfrm>
          <a:prstGeom prst="rect">
            <a:avLst/>
          </a:prstGeom>
        </p:spPr>
      </p:pic>
      <p:pic>
        <p:nvPicPr>
          <p:cNvPr id="17" name="Picture 16">
            <a:extLst>
              <a:ext uri="{FF2B5EF4-FFF2-40B4-BE49-F238E27FC236}">
                <a16:creationId xmlns:a16="http://schemas.microsoft.com/office/drawing/2014/main" id="{5D5F4E4D-9F2C-DF92-13B5-449EC5D9F17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9962" y="19123501"/>
            <a:ext cx="6249460" cy="4635659"/>
          </a:xfrm>
          <a:prstGeom prst="rect">
            <a:avLst/>
          </a:prstGeom>
        </p:spPr>
      </p:pic>
      <p:pic>
        <p:nvPicPr>
          <p:cNvPr id="25" name="Picture 24">
            <a:extLst>
              <a:ext uri="{FF2B5EF4-FFF2-40B4-BE49-F238E27FC236}">
                <a16:creationId xmlns:a16="http://schemas.microsoft.com/office/drawing/2014/main" id="{4C0F77E4-5D14-A536-CD43-1A9A92CF5AE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303520" y="23859913"/>
            <a:ext cx="5338919" cy="3427209"/>
          </a:xfrm>
          <a:prstGeom prst="rect">
            <a:avLst/>
          </a:prstGeom>
        </p:spPr>
      </p:pic>
      <p:sp>
        <p:nvSpPr>
          <p:cNvPr id="31" name="TextBox 30">
            <a:extLst>
              <a:ext uri="{FF2B5EF4-FFF2-40B4-BE49-F238E27FC236}">
                <a16:creationId xmlns:a16="http://schemas.microsoft.com/office/drawing/2014/main" id="{CE11539F-7B1F-8A76-4260-E709C3E70811}"/>
              </a:ext>
            </a:extLst>
          </p:cNvPr>
          <p:cNvSpPr txBox="1"/>
          <p:nvPr/>
        </p:nvSpPr>
        <p:spPr>
          <a:xfrm>
            <a:off x="1219199" y="23766376"/>
            <a:ext cx="4132299" cy="1754326"/>
          </a:xfrm>
          <a:prstGeom prst="rect">
            <a:avLst/>
          </a:prstGeom>
          <a:noFill/>
        </p:spPr>
        <p:txBody>
          <a:bodyPr wrap="square" rtlCol="0">
            <a:spAutoFit/>
          </a:bodyPr>
          <a:lstStyle/>
          <a:p>
            <a:pPr algn="r"/>
            <a:r>
              <a:rPr lang="en-US" sz="1800" dirty="0"/>
              <a:t>The graph illustrates raw accelerometer readings along the </a:t>
            </a:r>
            <a:r>
              <a:rPr lang="en-US" sz="1800" b="1" dirty="0"/>
              <a:t>X, Y, and Z axes during a simulated crash event</a:t>
            </a:r>
            <a:r>
              <a:rPr lang="en-US" sz="1800" dirty="0"/>
              <a:t>. Under normal conditions, acceleration values remain within a stable range.</a:t>
            </a:r>
            <a:endParaRPr lang="en-AU" sz="1800" dirty="0"/>
          </a:p>
          <a:p>
            <a:endParaRPr lang="en-IN" sz="1800" dirty="0"/>
          </a:p>
        </p:txBody>
      </p:sp>
      <p:sp>
        <p:nvSpPr>
          <p:cNvPr id="32" name="TextBox 31">
            <a:extLst>
              <a:ext uri="{FF2B5EF4-FFF2-40B4-BE49-F238E27FC236}">
                <a16:creationId xmlns:a16="http://schemas.microsoft.com/office/drawing/2014/main" id="{D2C47D0A-1990-DFD4-7168-2634BA513397}"/>
              </a:ext>
            </a:extLst>
          </p:cNvPr>
          <p:cNvSpPr txBox="1"/>
          <p:nvPr/>
        </p:nvSpPr>
        <p:spPr>
          <a:xfrm>
            <a:off x="6725137" y="19005144"/>
            <a:ext cx="3736704" cy="4612353"/>
          </a:xfrm>
          <a:prstGeom prst="rect">
            <a:avLst/>
          </a:prstGeom>
          <a:noFill/>
        </p:spPr>
        <p:txBody>
          <a:bodyPr wrap="square" rtlCol="0">
            <a:spAutoFit/>
          </a:bodyPr>
          <a:lstStyle/>
          <a:p>
            <a:r>
              <a:rPr lang="en-US" sz="1800" dirty="0"/>
              <a:t>Operational Workflow</a:t>
            </a:r>
          </a:p>
          <a:p>
            <a:r>
              <a:rPr lang="en-US" sz="1800" dirty="0"/>
              <a:t>The system continuously monitors vehicle motion using the accelerometer sensor. When a collision is detected, the device captures the </a:t>
            </a:r>
            <a:r>
              <a:rPr lang="en-US" sz="1800" b="1" dirty="0"/>
              <a:t>latest GPS coordinates</a:t>
            </a:r>
            <a:r>
              <a:rPr lang="en-US" sz="1800" dirty="0"/>
              <a:t> and sends them to the backend server. The backend retrieves registered emergency contacts and initiates </a:t>
            </a:r>
            <a:r>
              <a:rPr lang="en-US" sz="1800" b="1" dirty="0"/>
              <a:t>automated multilingual voice alerts</a:t>
            </a:r>
            <a:r>
              <a:rPr lang="en-US" sz="1800" dirty="0"/>
              <a:t>. If internet connectivity fails, the </a:t>
            </a:r>
            <a:r>
              <a:rPr lang="en-US" sz="1800" b="1" dirty="0"/>
              <a:t>GSM module sends an SMS alert with the location link</a:t>
            </a:r>
            <a:r>
              <a:rPr lang="en-US" sz="1800" dirty="0"/>
              <a:t>, ensuring reliable emergency communication.</a:t>
            </a:r>
            <a:endParaRPr lang="en-IN" sz="1800" dirty="0"/>
          </a:p>
          <a:p>
            <a:endParaRPr lang="en-IN" dirty="0"/>
          </a:p>
        </p:txBody>
      </p:sp>
      <p:pic>
        <p:nvPicPr>
          <p:cNvPr id="34" name="Picture 33">
            <a:extLst>
              <a:ext uri="{FF2B5EF4-FFF2-40B4-BE49-F238E27FC236}">
                <a16:creationId xmlns:a16="http://schemas.microsoft.com/office/drawing/2014/main" id="{5645CC26-7E33-A8BD-920D-4F5F780C42D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297520" y="27292320"/>
            <a:ext cx="7355215" cy="2361028"/>
          </a:xfrm>
          <a:prstGeom prst="rect">
            <a:avLst/>
          </a:prstGeom>
        </p:spPr>
      </p:pic>
      <p:sp>
        <p:nvSpPr>
          <p:cNvPr id="35" name="TextBox 34">
            <a:extLst>
              <a:ext uri="{FF2B5EF4-FFF2-40B4-BE49-F238E27FC236}">
                <a16:creationId xmlns:a16="http://schemas.microsoft.com/office/drawing/2014/main" id="{EB83B054-89F0-A9F8-DCED-5D77A193EF4E}"/>
              </a:ext>
            </a:extLst>
          </p:cNvPr>
          <p:cNvSpPr txBox="1"/>
          <p:nvPr/>
        </p:nvSpPr>
        <p:spPr>
          <a:xfrm>
            <a:off x="498441" y="27198783"/>
            <a:ext cx="2853871" cy="1477328"/>
          </a:xfrm>
          <a:prstGeom prst="rect">
            <a:avLst/>
          </a:prstGeom>
          <a:noFill/>
        </p:spPr>
        <p:txBody>
          <a:bodyPr wrap="square" rtlCol="0">
            <a:spAutoFit/>
          </a:bodyPr>
          <a:lstStyle/>
          <a:p>
            <a:pPr algn="r"/>
            <a:r>
              <a:rPr lang="en-US" sz="1800" dirty="0"/>
              <a:t>User registration process where the user enters name, vehicle ID, preferred language, and emergency contact numbers.</a:t>
            </a:r>
            <a:endParaRPr lang="en-IN" sz="1800" dirty="0"/>
          </a:p>
        </p:txBody>
      </p:sp>
      <p:pic>
        <p:nvPicPr>
          <p:cNvPr id="37" name="Picture 36">
            <a:extLst>
              <a:ext uri="{FF2B5EF4-FFF2-40B4-BE49-F238E27FC236}">
                <a16:creationId xmlns:a16="http://schemas.microsoft.com/office/drawing/2014/main" id="{5142C72F-5E7A-D116-110F-CC1BD9BDAA2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817653" y="12093470"/>
            <a:ext cx="8038467" cy="3786751"/>
          </a:xfrm>
          <a:prstGeom prst="rect">
            <a:avLst/>
          </a:prstGeom>
        </p:spPr>
      </p:pic>
      <p:pic>
        <p:nvPicPr>
          <p:cNvPr id="39" name="Picture 38">
            <a:extLst>
              <a:ext uri="{FF2B5EF4-FFF2-40B4-BE49-F238E27FC236}">
                <a16:creationId xmlns:a16="http://schemas.microsoft.com/office/drawing/2014/main" id="{643432E6-66BF-023C-22A0-1292B86AB32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938760" y="7290187"/>
            <a:ext cx="7935436" cy="4463683"/>
          </a:xfrm>
          <a:prstGeom prst="rect">
            <a:avLst/>
          </a:prstGeom>
        </p:spPr>
      </p:pic>
      <p:pic>
        <p:nvPicPr>
          <p:cNvPr id="41" name="Picture 40">
            <a:extLst>
              <a:ext uri="{FF2B5EF4-FFF2-40B4-BE49-F238E27FC236}">
                <a16:creationId xmlns:a16="http://schemas.microsoft.com/office/drawing/2014/main" id="{11CB0DD1-BB24-2D34-FCBC-264154C4F61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836167" y="3568129"/>
            <a:ext cx="4944607" cy="3174089"/>
          </a:xfrm>
          <a:prstGeom prst="rect">
            <a:avLst/>
          </a:prstGeom>
        </p:spPr>
      </p:pic>
      <p:pic>
        <p:nvPicPr>
          <p:cNvPr id="43" name="Picture 42">
            <a:extLst>
              <a:ext uri="{FF2B5EF4-FFF2-40B4-BE49-F238E27FC236}">
                <a16:creationId xmlns:a16="http://schemas.microsoft.com/office/drawing/2014/main" id="{B7AB6DE8-8DF1-F67F-A8D9-BFF8F1EFA30F}"/>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5852121" y="3252055"/>
            <a:ext cx="5052556" cy="3682146"/>
          </a:xfrm>
          <a:prstGeom prst="rect">
            <a:avLst/>
          </a:prstGeom>
        </p:spPr>
      </p:pic>
      <p:sp>
        <p:nvSpPr>
          <p:cNvPr id="44" name="TextBox 43">
            <a:extLst>
              <a:ext uri="{FF2B5EF4-FFF2-40B4-BE49-F238E27FC236}">
                <a16:creationId xmlns:a16="http://schemas.microsoft.com/office/drawing/2014/main" id="{FF069F84-D8D8-81F9-DE9F-48AD209A4902}"/>
              </a:ext>
            </a:extLst>
          </p:cNvPr>
          <p:cNvSpPr txBox="1"/>
          <p:nvPr/>
        </p:nvSpPr>
        <p:spPr>
          <a:xfrm>
            <a:off x="10936223" y="6950587"/>
            <a:ext cx="9968453" cy="369332"/>
          </a:xfrm>
          <a:prstGeom prst="rect">
            <a:avLst/>
          </a:prstGeom>
          <a:noFill/>
        </p:spPr>
        <p:txBody>
          <a:bodyPr wrap="square" rtlCol="0">
            <a:spAutoFit/>
          </a:bodyPr>
          <a:lstStyle/>
          <a:p>
            <a:r>
              <a:rPr lang="en-US" sz="1800" i="1" dirty="0"/>
              <a:t>Accelerometer readings during a simulated crash event showing sudden deviation in acceleration values.</a:t>
            </a:r>
            <a:endParaRPr lang="en-IN" sz="1800" dirty="0"/>
          </a:p>
        </p:txBody>
      </p:sp>
      <p:pic>
        <p:nvPicPr>
          <p:cNvPr id="46" name="Picture 45">
            <a:extLst>
              <a:ext uri="{FF2B5EF4-FFF2-40B4-BE49-F238E27FC236}">
                <a16:creationId xmlns:a16="http://schemas.microsoft.com/office/drawing/2014/main" id="{3707DB1E-4682-EEEE-733B-B507C5EA02DE}"/>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04853" y="7290187"/>
            <a:ext cx="2060161" cy="4463683"/>
          </a:xfrm>
          <a:prstGeom prst="rect">
            <a:avLst/>
          </a:prstGeom>
        </p:spPr>
      </p:pic>
      <p:sp>
        <p:nvSpPr>
          <p:cNvPr id="47" name="TextBox 46">
            <a:extLst>
              <a:ext uri="{FF2B5EF4-FFF2-40B4-BE49-F238E27FC236}">
                <a16:creationId xmlns:a16="http://schemas.microsoft.com/office/drawing/2014/main" id="{7ED05131-0C40-EDF7-4325-0D156CAC161B}"/>
              </a:ext>
            </a:extLst>
          </p:cNvPr>
          <p:cNvSpPr txBox="1"/>
          <p:nvPr/>
        </p:nvSpPr>
        <p:spPr>
          <a:xfrm>
            <a:off x="12592779" y="11724138"/>
            <a:ext cx="8311897" cy="369332"/>
          </a:xfrm>
          <a:prstGeom prst="rect">
            <a:avLst/>
          </a:prstGeom>
          <a:noFill/>
        </p:spPr>
        <p:txBody>
          <a:bodyPr wrap="square" rtlCol="0">
            <a:spAutoFit/>
          </a:bodyPr>
          <a:lstStyle/>
          <a:p>
            <a:r>
              <a:rPr lang="en-US" sz="1800" i="1" dirty="0"/>
              <a:t>Automated emergency voice call triggered after accident detection.</a:t>
            </a:r>
            <a:endParaRPr lang="en-IN" sz="1800" i="1" dirty="0"/>
          </a:p>
        </p:txBody>
      </p:sp>
      <p:sp>
        <p:nvSpPr>
          <p:cNvPr id="48" name="TextBox 47">
            <a:extLst>
              <a:ext uri="{FF2B5EF4-FFF2-40B4-BE49-F238E27FC236}">
                <a16:creationId xmlns:a16="http://schemas.microsoft.com/office/drawing/2014/main" id="{76B91BD0-B0E7-14F2-77C3-AE96DBBF4CE4}"/>
              </a:ext>
            </a:extLst>
          </p:cNvPr>
          <p:cNvSpPr txBox="1"/>
          <p:nvPr/>
        </p:nvSpPr>
        <p:spPr>
          <a:xfrm>
            <a:off x="12328438" y="15866557"/>
            <a:ext cx="9348217" cy="369332"/>
          </a:xfrm>
          <a:prstGeom prst="rect">
            <a:avLst/>
          </a:prstGeom>
          <a:noFill/>
        </p:spPr>
        <p:txBody>
          <a:bodyPr wrap="square" rtlCol="0">
            <a:spAutoFit/>
          </a:bodyPr>
          <a:lstStyle/>
          <a:p>
            <a:r>
              <a:rPr lang="en-US" sz="1800" i="1" dirty="0" err="1"/>
              <a:t>ResQLink</a:t>
            </a:r>
            <a:r>
              <a:rPr lang="en-US" sz="1800" i="1" dirty="0"/>
              <a:t> web dashboard displaying device information and accident records.</a:t>
            </a:r>
            <a:endParaRPr lang="en-IN" sz="1800" i="1" dirty="0"/>
          </a:p>
        </p:txBody>
      </p:sp>
      <p:pic>
        <p:nvPicPr>
          <p:cNvPr id="52" name="Picture 51">
            <a:extLst>
              <a:ext uri="{FF2B5EF4-FFF2-40B4-BE49-F238E27FC236}">
                <a16:creationId xmlns:a16="http://schemas.microsoft.com/office/drawing/2014/main" id="{5CC8B3C3-601D-B7D7-4955-CECA34343207}"/>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9257749" y="7816210"/>
            <a:ext cx="1606571" cy="3359262"/>
          </a:xfrm>
          <a:prstGeom prst="rect">
            <a:avLst/>
          </a:prstGeom>
        </p:spPr>
      </p:pic>
      <p:sp>
        <p:nvSpPr>
          <p:cNvPr id="53" name="TextBox 52">
            <a:extLst>
              <a:ext uri="{FF2B5EF4-FFF2-40B4-BE49-F238E27FC236}">
                <a16:creationId xmlns:a16="http://schemas.microsoft.com/office/drawing/2014/main" id="{4E3772FF-F494-EA9E-F9D3-04FAD0493985}"/>
              </a:ext>
            </a:extLst>
          </p:cNvPr>
          <p:cNvSpPr txBox="1"/>
          <p:nvPr/>
        </p:nvSpPr>
        <p:spPr>
          <a:xfrm>
            <a:off x="11925757" y="16250755"/>
            <a:ext cx="9608840" cy="369332"/>
          </a:xfrm>
          <a:prstGeom prst="rect">
            <a:avLst/>
          </a:prstGeom>
          <a:noFill/>
        </p:spPr>
        <p:txBody>
          <a:bodyPr wrap="square" rtlCol="0">
            <a:spAutoFit/>
          </a:bodyPr>
          <a:lstStyle/>
          <a:p>
            <a:r>
              <a:rPr lang="en-US" sz="1800" i="1" dirty="0"/>
              <a:t>3-axis accelerometer and gyroscope data used to identify crash and rollover accidents.</a:t>
            </a:r>
            <a:endParaRPr lang="en-IN" sz="1800" i="1" dirty="0"/>
          </a:p>
        </p:txBody>
      </p:sp>
      <p:pic>
        <p:nvPicPr>
          <p:cNvPr id="57" name="Picture 56">
            <a:extLst>
              <a:ext uri="{FF2B5EF4-FFF2-40B4-BE49-F238E27FC236}">
                <a16:creationId xmlns:a16="http://schemas.microsoft.com/office/drawing/2014/main" id="{9224A6CE-9F8A-1934-9961-DD4CE24BB6B4}"/>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859129" y="16545389"/>
            <a:ext cx="10052083" cy="5220419"/>
          </a:xfrm>
          <a:prstGeom prst="rect">
            <a:avLst/>
          </a:prstGeom>
        </p:spPr>
      </p:pic>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1055</TotalTime>
  <Words>759</Words>
  <Application>Microsoft Office PowerPoint</Application>
  <PresentationFormat>Custom</PresentationFormat>
  <Paragraphs>64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prawin vs</cp:lastModifiedBy>
  <cp:revision>27</cp:revision>
  <dcterms:created xsi:type="dcterms:W3CDTF">2016-03-28T06:32:15Z</dcterms:created>
  <dcterms:modified xsi:type="dcterms:W3CDTF">2026-03-14T01:53:05Z</dcterms:modified>
</cp:coreProperties>
</file>