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303" r:id="rId3"/>
    <p:sldId id="318" r:id="rId4"/>
    <p:sldId id="319" r:id="rId5"/>
    <p:sldId id="321" r:id="rId6"/>
    <p:sldId id="328" r:id="rId7"/>
    <p:sldId id="306" r:id="rId8"/>
    <p:sldId id="327" r:id="rId9"/>
    <p:sldId id="325" r:id="rId10"/>
    <p:sldId id="326" r:id="rId11"/>
    <p:sldId id="323" r:id="rId12"/>
  </p:sldIdLst>
  <p:sldSz cx="9144000" cy="6858000" type="screen4x3"/>
  <p:notesSz cx="6797675" cy="98599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F18BB-2D1E-4514-B7C3-EA27C9DAFD22}" type="datetimeFigureOut">
              <a:rPr lang="en-US" smtClean="0"/>
              <a:pPr/>
              <a:t>6/18/2026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7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83483"/>
            <a:ext cx="5438140" cy="4436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0A8B-0BA2-4CD9-8D7C-E5FCC2E44B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974A-CE68-4C27-B27D-6806430EEF3A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0BC-1896-42CE-8F55-64E8977B1440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C33F-5C2D-4F39-84E2-E9B40C361A79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2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89B8-FA73-490B-B830-5AC2CD4C942C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9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A08-AD68-4E22-9289-B8719C6EE0F7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68E0-AD1A-44E5-A0F0-1AA8AE0503DD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3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02A7-0AEC-48FC-BB07-ED6746464FC0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0C442-BA6A-49F7-B184-A64C26E15FB8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7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98F16-031A-4B1E-A8D1-6A3DC97DF4D3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EA06-35B3-4A9B-B19B-BCCD12A67420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8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982C-C291-4E9F-B127-4C3FD0D58FDD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8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F2A08-FBE7-4290-AA4F-480B7060799B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9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628800"/>
            <a:ext cx="8247828" cy="594315"/>
          </a:xfrm>
        </p:spPr>
        <p:txBody>
          <a:bodyPr>
            <a:noAutofit/>
          </a:bodyPr>
          <a:lstStyle/>
          <a:p>
            <a:b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Intelligent Vehicular Emergency Communication System</a:t>
            </a:r>
            <a:b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-642974" y="-387991"/>
            <a:ext cx="852734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1C5092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1C5092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	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400" b="1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KPR Institute of Engineering and Technolog</a:t>
            </a:r>
            <a:r>
              <a:rPr lang="en-US" sz="2400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y</a:t>
            </a:r>
            <a:endParaRPr lang="en-US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INNOVSENSE 2026</a:t>
            </a:r>
            <a:endParaRPr lang="en-IN" sz="2400" b="1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233086"/>
              </p:ext>
            </p:extLst>
          </p:nvPr>
        </p:nvGraphicFramePr>
        <p:xfrm>
          <a:off x="683568" y="2636912"/>
          <a:ext cx="8005352" cy="33823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77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" pitchFamily="18" charset="0"/>
                          <a:ea typeface="+mn-ea"/>
                          <a:cs typeface="+mn-cs"/>
                        </a:rPr>
                        <a:t>Team Head  &amp; Dept         : PRAWIN V S (III ECE B)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Times" pitchFamily="18" charset="0"/>
                        <a:ea typeface="+mn-ea"/>
                        <a:cs typeface="+mn-cs"/>
                      </a:endParaRPr>
                    </a:p>
                  </a:txBody>
                  <a:tcPr marT="45712" marB="45712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</a:t>
                      </a: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</a:t>
                      </a: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08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 ECE 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III ECE B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III ECE B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III ECE B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III CSE C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endParaRPr lang="en-US" sz="17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Prawin V S (23EC084)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Sanjay Narayanan (23EC101)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Sarvesh R (23EC105)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Rithik M (23EC091)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</a:t>
                      </a:r>
                      <a:r>
                        <a:rPr lang="en-US" sz="16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Sanjey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(23CS152)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endParaRPr lang="en-US" sz="1600" dirty="0">
                        <a:solidFill>
                          <a:srgbClr val="0D0DD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4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0300"/>
            <a:ext cx="7467600" cy="1143000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89" y="1213322"/>
            <a:ext cx="8229600" cy="2952328"/>
          </a:xfrm>
        </p:spPr>
        <p:txBody>
          <a:bodyPr anchor="ctr">
            <a:noAutofit/>
          </a:bodyPr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2400" dirty="0"/>
              <a:t>Automatic accident detection and emergency calling systems are currently limited to high-end luxury vehicles.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400" dirty="0"/>
              <a:t>There is a need for an affordable, hardware-integrated system that not only detects accidents but also automatically initiates voice calls to emergency contacts without human intervention.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400" dirty="0"/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Tech Domain: </a:t>
            </a:r>
            <a:r>
              <a:rPr lang="en-US" sz="2400" dirty="0"/>
              <a:t>IoT-Driven Automotive Safety &amp; Emergency Response (Sensor Tech)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33A3D-91D5-F2FE-C066-3E4BEFF0D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914" y="4157241"/>
            <a:ext cx="4494949" cy="19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23" y="404696"/>
            <a:ext cx="7467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Novelty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912203"/>
              </p:ext>
            </p:extLst>
          </p:nvPr>
        </p:nvGraphicFramePr>
        <p:xfrm>
          <a:off x="54077" y="1547696"/>
          <a:ext cx="8686800" cy="469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6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Existing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Suggested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Reference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GSM module sends SMS to emergency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Integrates </a:t>
                      </a:r>
                      <a:r>
                        <a:rPr lang="en-IN" b="1" dirty="0"/>
                        <a:t>automatic voice calling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Vehicle Accident Emergency Alert System” – IOP Conference Series (2021)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Uses smartphone accelerometer &amp; GPS,</a:t>
                      </a:r>
                    </a:p>
                    <a:p>
                      <a:pPr algn="ctr"/>
                      <a:r>
                        <a:rPr lang="en-US" dirty="0"/>
                        <a:t>Detects impact using g-force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Dedicated ESP32 + sensor hardware, </a:t>
                      </a:r>
                      <a:r>
                        <a:rPr lang="en-US" dirty="0"/>
                        <a:t>Independent of smartphone battery or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Swift Aid: Real-Time Accident Detection and Emergency Alert System” – IRJET (2025)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Uses embedded sensors,</a:t>
                      </a:r>
                    </a:p>
                    <a:p>
                      <a:pPr algn="ctr"/>
                      <a:r>
                        <a:rPr lang="en-US" dirty="0"/>
                        <a:t>Sends data to central monitoring hub/server,</a:t>
                      </a:r>
                    </a:p>
                    <a:p>
                      <a:pPr algn="ctr"/>
                      <a:r>
                        <a:rPr lang="en-US" dirty="0"/>
                        <a:t>Uses machine learning to assess severity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 emergency initiation,</a:t>
                      </a:r>
                    </a:p>
                    <a:p>
                      <a:pPr algn="ctr"/>
                      <a:r>
                        <a:rPr lang="en-US" dirty="0"/>
                        <a:t>Lightweight, affordable architecture</a:t>
                      </a:r>
                    </a:p>
                    <a:p>
                      <a:pPr algn="ctr"/>
                      <a:r>
                        <a:rPr lang="en-US" dirty="0"/>
                        <a:t>Designed for easy installation in any vehicle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 IoT-Based Approach to Vehicle Accident Detection and Alerting” – IJCNIS (2025)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89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7467600" cy="1143000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Methodology/Flow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EC10A8F-8692-29D6-4908-B6842BB1A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" y="1115566"/>
            <a:ext cx="7025209" cy="52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8" y="20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b="1" dirty="0">
                <a:solidFill>
                  <a:srgbClr val="0070C0"/>
                </a:solidFill>
              </a:rPr>
              <a:t>Simulation developed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42BAB5-55CF-CA8B-F41E-79260A984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63" y="980728"/>
            <a:ext cx="6491549" cy="2692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61605-FA5E-D689-3A19-D3357E3759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789040"/>
            <a:ext cx="4689646" cy="2475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A5AD0A-F2D7-DF7E-0C3C-FE5ADD2FF7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336" y="1692276"/>
            <a:ext cx="2014664" cy="43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0D43-D5C1-7EAE-8759-EA7CA6F2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D6B63024-1D26-7286-5465-0C77BB506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CFD21-264A-8C66-9573-89D0BF02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US" b="1" dirty="0">
                <a:solidFill>
                  <a:srgbClr val="0070C0"/>
                </a:solidFill>
              </a:rPr>
              <a:t>Output Generated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6015C-A1C0-6364-8D38-319B14BD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D804D-EBCF-301A-F4AC-BDAB4EAD40BC}"/>
              </a:ext>
            </a:extLst>
          </p:cNvPr>
          <p:cNvSpPr txBox="1"/>
          <p:nvPr/>
        </p:nvSpPr>
        <p:spPr>
          <a:xfrm>
            <a:off x="1449030" y="5850493"/>
            <a:ext cx="669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Graphical Representation of Crash Detection through Accelerometer</a:t>
            </a: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76C90C0-9100-BB80-1ED6-AA8C2E1B5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621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1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b="1" dirty="0">
                <a:solidFill>
                  <a:srgbClr val="0070C0"/>
                </a:solidFill>
              </a:rPr>
              <a:t>Output Generated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AF7C21-0D07-CE6C-B1EE-9E2D2B12C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2" y="1196752"/>
            <a:ext cx="8229600" cy="4608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430BCE-1DF4-7104-2719-9B1923E1E211}"/>
              </a:ext>
            </a:extLst>
          </p:cNvPr>
          <p:cNvSpPr txBox="1"/>
          <p:nvPr/>
        </p:nvSpPr>
        <p:spPr>
          <a:xfrm>
            <a:off x="1479006" y="5862269"/>
            <a:ext cx="6521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Graphical Representation of Roll Over Detection through Gyroscope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4589-F4A7-EAAE-F0A0-49EAB069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4C110F72-C0FC-E4D8-17A1-C761551DD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27384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C0FA8-D332-54F7-4529-9F6C6886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US" b="1" dirty="0">
                <a:solidFill>
                  <a:srgbClr val="0070C0"/>
                </a:solidFill>
              </a:rPr>
              <a:t>O</a:t>
            </a:r>
            <a:r>
              <a:rPr lang="en-IN" b="1" dirty="0" err="1">
                <a:solidFill>
                  <a:srgbClr val="0070C0"/>
                </a:solidFill>
              </a:rPr>
              <a:t>utput</a:t>
            </a:r>
            <a:r>
              <a:rPr lang="en-IN" b="1" dirty="0">
                <a:solidFill>
                  <a:srgbClr val="0070C0"/>
                </a:solidFill>
              </a:rPr>
              <a:t> Generated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0AE6-07A7-29FB-E3B8-7F00A055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FD9841-AB4C-4C82-2837-038ECBE29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95462"/>
            <a:ext cx="4608512" cy="4067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C8167F-E7BB-60CC-CF7A-FCFEA7AFDF56}"/>
              </a:ext>
            </a:extLst>
          </p:cNvPr>
          <p:cNvSpPr txBox="1"/>
          <p:nvPr/>
        </p:nvSpPr>
        <p:spPr>
          <a:xfrm>
            <a:off x="1933072" y="5573494"/>
            <a:ext cx="5277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Comparing with existing Researches and Publishments</a:t>
            </a:r>
          </a:p>
          <a:p>
            <a:r>
              <a:rPr lang="en-US" dirty="0"/>
              <a:t>		(References)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991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5581-CE87-D2CB-DDEB-5A1354BE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A99AD3FE-CBD6-499F-03CC-D1F1E4A3D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2CE6C-F04B-B81C-CA1D-BDE55BC0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US" b="1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20A09-9E65-0D7E-8F3C-30768459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4C66-20DB-E756-4C06-10163EAFB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8958"/>
            <a:ext cx="8363272" cy="3790282"/>
          </a:xfrm>
        </p:spPr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“Accident detection using Automotive Smart Black-Box based Monitoring system”, Elsevier </a:t>
            </a:r>
            <a:r>
              <a:rPr lang="en-US" dirty="0" err="1"/>
              <a:t>Measurment</a:t>
            </a:r>
            <a:r>
              <a:rPr lang="en-US" dirty="0"/>
              <a:t>: Sensors 27, 2023.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“An IoT-Based Approach to Vehicle Accident Detection and Alerting”, International Journal of Communication Networks and Information Security (IJCNIS), vol. 17, pp. 21-26, Apr. 2025.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“Accident Alert and Vehicle Tracking System”, International Journal of Engineering Research and Technology (IJERT), vol. 9, pp. 358-362, Nov. 2020.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“Accident Detection and Emergency Alert System”, International Journal of Research Publication and Reviews (IJRPR), vol. 6, pp. 185-191, Dec. 2025.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“Intelligent accident detection system by emergency response and disaster management using vehicular fog computing”, Journal of Control, Measurement, Electronics, Computing and Communications, vol. 65, pp. 117-129, 2024.</a:t>
            </a:r>
            <a:endParaRPr lang="en-IN" dirty="0"/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“Swift Aid: Real-Time Accident Detection and Emergency Alert System”, International Research Journal of Engineering and Technology (IRJET), vol. 12, pp. 101-107, Dec. 2025.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endParaRPr lang="en-IN" dirty="0"/>
          </a:p>
          <a:p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492419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186E-0ADC-E15D-0AE4-6081F0F0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BCDF9C58-7B29-7B8D-CCAC-E0E98ABA4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CAFF4-8FAD-E889-0812-7145A5A6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US" b="1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3A5AB-E140-0794-8ADA-ECCF0908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398F-8612-06B1-C29D-4B4D22838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1312"/>
            <a:ext cx="8507288" cy="460851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1800" dirty="0"/>
              <a:t>“An IoT-Based Automatic Vehicle Accident Detection and Visual Situation Reporting System”, Wiley: Journal of Advanced Transportation. vol. 2024, May 2024.</a:t>
            </a:r>
            <a:endParaRPr lang="en-IN" sz="1800" dirty="0"/>
          </a:p>
          <a:p>
            <a:pPr marL="514350" indent="-514350">
              <a:buFont typeface="+mj-lt"/>
              <a:buAutoNum type="arabicPeriod" startAt="7"/>
            </a:pPr>
            <a:r>
              <a:rPr lang="en-US" sz="1800" dirty="0"/>
              <a:t>“Android accident detection and alert system”, ICMED: MATEC Web of Conferences, vol. 392, 2024.</a:t>
            </a:r>
          </a:p>
          <a:p>
            <a:pPr marL="514350" lvl="0" indent="-514350">
              <a:buFont typeface="+mj-lt"/>
              <a:buAutoNum type="arabicPeriod" startAt="7"/>
            </a:pPr>
            <a:r>
              <a:rPr lang="en-US" sz="1800" dirty="0"/>
              <a:t>“Enhancing Vehicle Safety: A Comprehensive Accident Detection and Alert System”, International Journal of Advanced Computer Science and Applications, vol. 14, pp. 28-41, 2023.</a:t>
            </a:r>
            <a:endParaRPr lang="en-IN" sz="1800" dirty="0"/>
          </a:p>
          <a:p>
            <a:pPr marL="514350" lvl="0" indent="-514350">
              <a:buFont typeface="+mj-lt"/>
              <a:buAutoNum type="arabicPeriod" startAt="7"/>
            </a:pPr>
            <a:r>
              <a:rPr lang="en-US" sz="1800" dirty="0"/>
              <a:t>“IoT-Based Smart Accident Detection and Early Warning System for Emergency Response and Risk Management”, International Journal of Advanced Computer Science and Applications, vol. 16, pp. 660-673, 2025.</a:t>
            </a:r>
            <a:endParaRPr lang="en-IN" sz="1800" dirty="0"/>
          </a:p>
          <a:p>
            <a:pPr marL="514350" lvl="0" indent="-514350">
              <a:buFont typeface="+mj-lt"/>
              <a:buAutoNum type="arabicPeriod" startAt="7"/>
            </a:pPr>
            <a:r>
              <a:rPr lang="en-US" sz="1800" dirty="0"/>
              <a:t>“Car Accident Detection System And Alert”, International Journal of Advanced Research in Science, Communication and Technology (IJARSCT), vol. 5, pp. 7-11, Apr. 2025.</a:t>
            </a:r>
          </a:p>
          <a:p>
            <a:pPr marL="514350" lvl="0" indent="-514350">
              <a:buFont typeface="+mj-lt"/>
              <a:buAutoNum type="arabicPeriod" startAt="7"/>
            </a:pPr>
            <a:r>
              <a:rPr lang="en-US" sz="1800" dirty="0"/>
              <a:t>“Vehicle Accident Emergency Alert System”, RJACT: IOP Conf. Series: Materials Science and Engineering, vol. 1012, 2020.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1515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DAE9-2896-EFE1-DB54-DC7B0AF0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D08BFE86-479B-B6D5-97C7-F33FAE9E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C61C01-D876-6D95-2B8A-4D60DB80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Rate the project Suitability for/patent/research/product/Startup </a:t>
            </a:r>
            <a:b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 scale 1(low) -3(High)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3A494-3CC8-F920-D2E6-2D5AFB34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726D447-72E8-71B8-BB5D-72CDFEB37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283603"/>
              </p:ext>
            </p:extLst>
          </p:nvPr>
        </p:nvGraphicFramePr>
        <p:xfrm>
          <a:off x="625194" y="1663142"/>
          <a:ext cx="82296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525">
                  <a:extLst>
                    <a:ext uri="{9D8B030D-6E8A-4147-A177-3AD203B41FA5}">
                      <a16:colId xmlns:a16="http://schemas.microsoft.com/office/drawing/2014/main" val="320859291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716001354"/>
                    </a:ext>
                  </a:extLst>
                </a:gridCol>
                <a:gridCol w="5794963">
                  <a:extLst>
                    <a:ext uri="{9D8B030D-6E8A-4147-A177-3AD203B41FA5}">
                      <a16:colId xmlns:a16="http://schemas.microsoft.com/office/drawing/2014/main" val="827855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Suitability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30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Patent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Integration of sensors, GPS, and GSM with hybrid communication shows moderate patent potential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2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Research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sensor data analysis for accident detection with scope for further research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157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Product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real world application for vehicle safety and emergency response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Startup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evolve into a safety product for fleet monitoring and smart vehicles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56416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E9853A-D85D-50EE-2987-71197FE4A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22758"/>
              </p:ext>
            </p:extLst>
          </p:nvPr>
        </p:nvGraphicFramePr>
        <p:xfrm>
          <a:off x="625194" y="4594302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638">
                  <a:extLst>
                    <a:ext uri="{9D8B030D-6E8A-4147-A177-3AD203B41FA5}">
                      <a16:colId xmlns:a16="http://schemas.microsoft.com/office/drawing/2014/main" val="4282389667"/>
                    </a:ext>
                  </a:extLst>
                </a:gridCol>
                <a:gridCol w="5794962">
                  <a:extLst>
                    <a:ext uri="{9D8B030D-6E8A-4147-A177-3AD203B41FA5}">
                      <a16:colId xmlns:a16="http://schemas.microsoft.com/office/drawing/2014/main" val="1861262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Which industry will use this product?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Emergency Services, Transportation Safety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44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Are you willing to make the project as a startup?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086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786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</vt:lpstr>
      <vt:lpstr>Times New Roman</vt:lpstr>
      <vt:lpstr>Office Theme</vt:lpstr>
      <vt:lpstr> Intelligent Vehicular Emergency Communication System </vt:lpstr>
      <vt:lpstr>Problem Statement</vt:lpstr>
      <vt:lpstr>Novelty </vt:lpstr>
      <vt:lpstr>Methodology/Flow</vt:lpstr>
      <vt:lpstr>Simulation developed</vt:lpstr>
      <vt:lpstr>Output Generated</vt:lpstr>
      <vt:lpstr>Output Generated</vt:lpstr>
      <vt:lpstr>Output Generated</vt:lpstr>
      <vt:lpstr>References</vt:lpstr>
      <vt:lpstr>References</vt:lpstr>
      <vt:lpstr>Rate the project Suitability for/patent/research/product/Startup  on scale 1(low) -3(High)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CONTEST</dc:title>
  <dc:creator>DELL</dc:creator>
  <cp:lastModifiedBy>Sanjay Narayanan V</cp:lastModifiedBy>
  <cp:revision>100</cp:revision>
  <dcterms:created xsi:type="dcterms:W3CDTF">2020-10-20T04:40:51Z</dcterms:created>
  <dcterms:modified xsi:type="dcterms:W3CDTF">2026-06-18T02:55:42Z</dcterms:modified>
</cp:coreProperties>
</file>